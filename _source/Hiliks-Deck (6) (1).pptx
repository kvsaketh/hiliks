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2743200"/>
            <a:ext cx="7772400" cy="7772400"/>
          </a:xfrm>
          <a:prstGeom prst="ellipse">
            <a:avLst/>
          </a:prstGeom>
          <a:solidFill>
            <a:srgbClr val="C2440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1371600"/>
            <a:ext cx="5029200" cy="5029200"/>
          </a:xfrm>
          <a:prstGeom prst="ellipse">
            <a:avLst/>
          </a:prstGeom>
          <a:solidFill>
            <a:srgbClr val="F26909">
              <a:alpha val="18000"/>
            </a:srgbClr>
          </a:solidFill>
          <a:ln/>
        </p:spPr>
      </p:sp>
      <p:pic>
        <p:nvPicPr>
          <p:cNvPr id="4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48640"/>
            <a:ext cx="2146072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2258568"/>
            <a:ext cx="118872" cy="118872"/>
          </a:xfrm>
          <a:prstGeom prst="rect">
            <a:avLst/>
          </a:prstGeom>
          <a:solidFill>
            <a:srgbClr val="F26909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" y="21762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INDUSTRY-FOCUSED DIGITAL ENGINEERING &amp; ENTERPRISE TECHNOLOGY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260604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Intelligent Operations</a:t>
            </a:r>
            <a:endParaRPr lang="en-US" sz="4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269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Across Critical Industries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66928" y="45720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D8C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technology solutions, systems integration, engineering services, and digital transformation — for railways, telecom, BFSI, public sector, real estate, oil &amp; gas, and energy &amp; utilities, across India and the GCC.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66928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4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 focus</a:t>
            </a:r>
            <a:pPr indent="0" marL="0">
              <a:buNone/>
            </a:pPr>
            <a:r>
              <a:rPr lang="en-US" sz="125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   </a:t>
            </a:r>
            <a:pPr indent="0" marL="0">
              <a:buNone/>
            </a:pPr>
            <a:r>
              <a:rPr lang="en-US" sz="1250" b="1" dirty="0">
                <a:solidFill>
                  <a:srgbClr val="F269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engineering-led delivery</a:t>
            </a:r>
            <a:pPr indent="0" marL="0">
              <a:buNone/>
            </a:pPr>
            <a:r>
              <a:rPr lang="en-US" sz="125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 depth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18872" cy="118872"/>
          </a:xfrm>
          <a:prstGeom prst="rect">
            <a:avLst/>
          </a:prstGeom>
          <a:solidFill>
            <a:srgbClr val="F26909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389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E5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BUSINESS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20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company. Verticalized practices.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corporate brand with domain-focused business units and horizontal technology capabilities — Railways as the flagship.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11055096" cy="896112"/>
          </a:xfrm>
          <a:prstGeom prst="rect">
            <a:avLst/>
          </a:prstGeom>
          <a:solidFill>
            <a:srgbClr val="F26909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295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26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CORPORATE BRAND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24963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3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Hiliks Technologies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852160" y="2478024"/>
            <a:ext cx="5568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26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Industry-Focused Digital Engineering &amp; Enterprise Technology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172968"/>
            <a:ext cx="1105509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3101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INDUSTRY BUSINESS UNITS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" y="3630168"/>
            <a:ext cx="844906" cy="310896"/>
          </a:xfrm>
          <a:prstGeom prst="rect">
            <a:avLst/>
          </a:prstGeom>
          <a:solidFill>
            <a:srgbClr val="1A1310"/>
          </a:solidFill>
          <a:ln w="12700">
            <a:solidFill>
              <a:srgbClr val="E6D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621024"/>
            <a:ext cx="8449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Railways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95882" y="3630168"/>
            <a:ext cx="769010" cy="310896"/>
          </a:xfrm>
          <a:prstGeom prst="rect">
            <a:avLst/>
          </a:prstGeom>
          <a:solidFill>
            <a:srgbClr val="F7F2EA"/>
          </a:solidFill>
          <a:ln w="12700">
            <a:solidFill>
              <a:srgbClr val="E6DF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95882" y="3621024"/>
            <a:ext cx="7690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0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Telecom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74620" y="3630168"/>
            <a:ext cx="541325" cy="310896"/>
          </a:xfrm>
          <a:prstGeom prst="rect">
            <a:avLst/>
          </a:prstGeom>
          <a:solidFill>
            <a:srgbClr val="F7F2EA"/>
          </a:solidFill>
          <a:ln w="12700">
            <a:solidFill>
              <a:srgbClr val="E6DF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4620" y="3621024"/>
            <a:ext cx="5413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0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25673" y="3630168"/>
            <a:ext cx="1224382" cy="310896"/>
          </a:xfrm>
          <a:prstGeom prst="rect">
            <a:avLst/>
          </a:prstGeom>
          <a:solidFill>
            <a:srgbClr val="F7F2EA"/>
          </a:solidFill>
          <a:ln w="12700">
            <a:solidFill>
              <a:srgbClr val="E6DF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5673" y="3621024"/>
            <a:ext cx="12243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0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Sector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59782" y="3630168"/>
            <a:ext cx="1072591" cy="310896"/>
          </a:xfrm>
          <a:prstGeom prst="rect">
            <a:avLst/>
          </a:prstGeom>
          <a:solidFill>
            <a:srgbClr val="F7F2EA"/>
          </a:solidFill>
          <a:ln w="12700">
            <a:solidFill>
              <a:srgbClr val="E6DF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9782" y="3621024"/>
            <a:ext cx="1072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0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Estate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42102" y="3630168"/>
            <a:ext cx="920801" cy="310896"/>
          </a:xfrm>
          <a:prstGeom prst="rect">
            <a:avLst/>
          </a:prstGeom>
          <a:solidFill>
            <a:srgbClr val="F7F2EA"/>
          </a:solidFill>
          <a:ln w="12700">
            <a:solidFill>
              <a:srgbClr val="E6DF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42102" y="3621024"/>
            <a:ext cx="9208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0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Oil &amp; Gas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72630" y="3630168"/>
            <a:ext cx="1603858" cy="310896"/>
          </a:xfrm>
          <a:prstGeom prst="rect">
            <a:avLst/>
          </a:prstGeom>
          <a:solidFill>
            <a:srgbClr val="F7F2EA"/>
          </a:solidFill>
          <a:ln w="12700">
            <a:solidFill>
              <a:srgbClr val="E6DF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2630" y="3621024"/>
            <a:ext cx="1603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0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 &amp; Utilities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" y="4398264"/>
            <a:ext cx="110550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45354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TECHNOLOGY CAPABILITIES (HORIZONTAL)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1248" y="4855464"/>
            <a:ext cx="1679753" cy="310896"/>
          </a:xfrm>
          <a:prstGeom prst="rect">
            <a:avLst/>
          </a:prstGeom>
          <a:solidFill>
            <a:srgbClr val="F7F2EA"/>
          </a:solidFill>
          <a:ln w="12700">
            <a:solidFill>
              <a:srgbClr val="E6DF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4846320"/>
            <a:ext cx="167975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0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Engineering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30729" y="4855464"/>
            <a:ext cx="1983334" cy="310896"/>
          </a:xfrm>
          <a:prstGeom prst="rect">
            <a:avLst/>
          </a:prstGeom>
          <a:solidFill>
            <a:srgbClr val="F7F2EA"/>
          </a:solidFill>
          <a:ln w="12700">
            <a:solidFill>
              <a:srgbClr val="E6DF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30729" y="4846320"/>
            <a:ext cx="19833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0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 Applications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23790" y="4855464"/>
            <a:ext cx="1679753" cy="310896"/>
          </a:xfrm>
          <a:prstGeom prst="rect">
            <a:avLst/>
          </a:prstGeom>
          <a:solidFill>
            <a:srgbClr val="F7F2EA"/>
          </a:solidFill>
          <a:ln w="12700">
            <a:solidFill>
              <a:srgbClr val="E6DF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3790" y="4846320"/>
            <a:ext cx="167975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0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Systems Integration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13271" y="4855464"/>
            <a:ext cx="1300277" cy="310896"/>
          </a:xfrm>
          <a:prstGeom prst="rect">
            <a:avLst/>
          </a:prstGeom>
          <a:solidFill>
            <a:srgbClr val="F7F2EA"/>
          </a:solidFill>
          <a:ln w="12700">
            <a:solidFill>
              <a:srgbClr val="E6DF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3271" y="4846320"/>
            <a:ext cx="13002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0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Analytics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923276" y="4855464"/>
            <a:ext cx="1907438" cy="310896"/>
          </a:xfrm>
          <a:prstGeom prst="rect">
            <a:avLst/>
          </a:prstGeom>
          <a:solidFill>
            <a:srgbClr val="F7F2EA"/>
          </a:solidFill>
          <a:ln w="12700">
            <a:solidFill>
              <a:srgbClr val="E6DF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23276" y="4846320"/>
            <a:ext cx="19074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0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Intelligent Automation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1248" y="5276088"/>
            <a:ext cx="1452067" cy="310896"/>
          </a:xfrm>
          <a:prstGeom prst="rect">
            <a:avLst/>
          </a:prstGeom>
          <a:solidFill>
            <a:srgbClr val="F7F2EA"/>
          </a:solidFill>
          <a:ln w="12700">
            <a:solidFill>
              <a:srgbClr val="E6DF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" y="5266944"/>
            <a:ext cx="14520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0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 Services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03043" y="5276088"/>
            <a:ext cx="2286914" cy="310896"/>
          </a:xfrm>
          <a:prstGeom prst="rect">
            <a:avLst/>
          </a:prstGeom>
          <a:solidFill>
            <a:srgbClr val="F7F2EA"/>
          </a:solidFill>
          <a:ln w="12700">
            <a:solidFill>
              <a:srgbClr val="E6DF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03043" y="5266944"/>
            <a:ext cx="22869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0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 &amp; Monitoring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99686" y="5276088"/>
            <a:ext cx="1452067" cy="310896"/>
          </a:xfrm>
          <a:prstGeom prst="rect">
            <a:avLst/>
          </a:prstGeom>
          <a:solidFill>
            <a:srgbClr val="F7F2EA"/>
          </a:solidFill>
          <a:ln w="12700">
            <a:solidFill>
              <a:srgbClr val="E6DF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9686" y="5266944"/>
            <a:ext cx="14520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0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&amp; Platforms</a:t>
            </a:r>
            <a:endParaRPr lang="en-US" sz="1000" dirty="0"/>
          </a:p>
        </p:txBody>
      </p:sp>
      <p:pic>
        <p:nvPicPr>
          <p:cNvPr id="44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00800"/>
            <a:ext cx="692281" cy="18288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5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3200400"/>
            <a:ext cx="8229600" cy="8229600"/>
          </a:xfrm>
          <a:prstGeom prst="ellipse">
            <a:avLst/>
          </a:prstGeom>
          <a:solidFill>
            <a:srgbClr val="C2440D">
              <a:alpha val="1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548640"/>
            <a:ext cx="1929384" cy="237744"/>
          </a:xfrm>
          <a:prstGeom prst="rect">
            <a:avLst/>
          </a:prstGeom>
          <a:solidFill>
            <a:srgbClr val="F26909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44068"/>
            <a:ext cx="1929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13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FLAGSHIP BUSINESS UNIT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89611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Hiliks Railways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Technology, Engineering, Signaling &amp; Digital Transformation — our deepest, most strategic practice, and the proof of our engineering-led approach.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2592324" cy="141732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286000"/>
            <a:ext cx="2592324" cy="64008"/>
          </a:xfrm>
          <a:prstGeom prst="rect">
            <a:avLst/>
          </a:prstGeom>
          <a:solidFill>
            <a:srgbClr val="F26909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9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" y="2852928"/>
            <a:ext cx="2189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Signaling &amp; Safety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87852" y="2286000"/>
            <a:ext cx="2592324" cy="141732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7852" y="2286000"/>
            <a:ext cx="2592324" cy="64008"/>
          </a:xfrm>
          <a:prstGeom prst="rect">
            <a:avLst/>
          </a:prstGeom>
          <a:solidFill>
            <a:srgbClr val="F26909"/>
          </a:solidFill>
          <a:ln/>
        </p:spPr>
      </p:sp>
      <p:sp>
        <p:nvSpPr>
          <p:cNvPr id="13" name="Text 11"/>
          <p:cNvSpPr/>
          <p:nvPr/>
        </p:nvSpPr>
        <p:spPr>
          <a:xfrm>
            <a:off x="35890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9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89020" y="2852928"/>
            <a:ext cx="2189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Railway Telecom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08776" y="2286000"/>
            <a:ext cx="2592324" cy="141732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2286000"/>
            <a:ext cx="2592324" cy="64008"/>
          </a:xfrm>
          <a:prstGeom prst="rect">
            <a:avLst/>
          </a:prstGeom>
          <a:solidFill>
            <a:srgbClr val="F2690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9944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9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9944" y="2852928"/>
            <a:ext cx="2189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Rail Systems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029700" y="2286000"/>
            <a:ext cx="2592324" cy="141732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29700" y="2286000"/>
            <a:ext cx="2592324" cy="64008"/>
          </a:xfrm>
          <a:prstGeom prst="rect">
            <a:avLst/>
          </a:prstGeom>
          <a:solidFill>
            <a:srgbClr val="F26909"/>
          </a:solidFill>
          <a:ln/>
        </p:spPr>
      </p:sp>
      <p:sp>
        <p:nvSpPr>
          <p:cNvPr id="21" name="Text 19"/>
          <p:cNvSpPr/>
          <p:nvPr/>
        </p:nvSpPr>
        <p:spPr>
          <a:xfrm>
            <a:off x="9230868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9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30868" y="2852928"/>
            <a:ext cx="2189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OCC Integration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66928" y="3904488"/>
            <a:ext cx="2592324" cy="141732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3904488"/>
            <a:ext cx="2592324" cy="64008"/>
          </a:xfrm>
          <a:prstGeom prst="rect">
            <a:avLst/>
          </a:prstGeom>
          <a:solidFill>
            <a:srgbClr val="F26909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" y="4105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9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8096" y="4471416"/>
            <a:ext cx="2189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AI-Led Operations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387852" y="3904488"/>
            <a:ext cx="2592324" cy="141732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7852" y="3904488"/>
            <a:ext cx="2592324" cy="64008"/>
          </a:xfrm>
          <a:prstGeom prst="rect">
            <a:avLst/>
          </a:prstGeom>
          <a:solidFill>
            <a:srgbClr val="F26909"/>
          </a:solidFill>
          <a:ln/>
        </p:spPr>
      </p:sp>
      <p:sp>
        <p:nvSpPr>
          <p:cNvPr id="29" name="Text 27"/>
          <p:cNvSpPr/>
          <p:nvPr/>
        </p:nvSpPr>
        <p:spPr>
          <a:xfrm>
            <a:off x="3589020" y="4105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9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89020" y="4471416"/>
            <a:ext cx="2189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Maintenance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08776" y="3904488"/>
            <a:ext cx="2592324" cy="141732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08776" y="3904488"/>
            <a:ext cx="2592324" cy="64008"/>
          </a:xfrm>
          <a:prstGeom prst="rect">
            <a:avLst/>
          </a:prstGeom>
          <a:solidFill>
            <a:srgbClr val="F26909"/>
          </a:solidFill>
          <a:ln/>
        </p:spPr>
      </p:sp>
      <p:sp>
        <p:nvSpPr>
          <p:cNvPr id="33" name="Text 31"/>
          <p:cNvSpPr/>
          <p:nvPr/>
        </p:nvSpPr>
        <p:spPr>
          <a:xfrm>
            <a:off x="6409944" y="4105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9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9944" y="4471416"/>
            <a:ext cx="2189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Rail Systems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029700" y="3904488"/>
            <a:ext cx="2592324" cy="1417320"/>
          </a:xfrm>
          <a:prstGeom prst="rect">
            <a:avLst/>
          </a:prstGeom>
          <a:solidFill>
            <a:srgbClr val="F26909"/>
          </a:solidFill>
          <a:ln/>
        </p:spPr>
      </p:sp>
      <p:sp>
        <p:nvSpPr>
          <p:cNvPr id="36" name="Text 34"/>
          <p:cNvSpPr/>
          <p:nvPr/>
        </p:nvSpPr>
        <p:spPr>
          <a:xfrm>
            <a:off x="9230868" y="4105656"/>
            <a:ext cx="21899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13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Engineering-led — from the track to the operations centre.</a:t>
            </a:r>
            <a:endParaRPr lang="en-US" sz="1400" dirty="0"/>
          </a:p>
        </p:txBody>
      </p:sp>
      <p:pic>
        <p:nvPicPr>
          <p:cNvPr id="37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00800"/>
            <a:ext cx="692281" cy="18288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18872" cy="118872"/>
          </a:xfrm>
          <a:prstGeom prst="rect">
            <a:avLst/>
          </a:prstGeom>
          <a:solidFill>
            <a:srgbClr val="F26909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389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E5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INDUSTRIES WE SERVE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0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Verticalized practices for critical industries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Domain-focused business units — each fluent in its industry, all engineering-led.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2592324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2690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478024"/>
            <a:ext cx="402336" cy="402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35124" y="2459736"/>
            <a:ext cx="841248" cy="237744"/>
          </a:xfrm>
          <a:prstGeom prst="rect">
            <a:avLst/>
          </a:prstGeom>
          <a:solidFill>
            <a:srgbClr val="F26909"/>
          </a:solidFill>
          <a:ln/>
        </p:spPr>
      </p:sp>
      <p:sp>
        <p:nvSpPr>
          <p:cNvPr id="9" name="Text 6"/>
          <p:cNvSpPr/>
          <p:nvPr/>
        </p:nvSpPr>
        <p:spPr>
          <a:xfrm>
            <a:off x="2135124" y="2455164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13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FLAGSHIP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6384" y="2990088"/>
            <a:ext cx="2153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0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Railways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86384" y="3337560"/>
            <a:ext cx="21534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Signaling, telecom, smart rail, OCC, AI-led ops, predictive maintenance.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7852" y="2240280"/>
            <a:ext cx="259232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308" y="247802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07308" y="2990088"/>
            <a:ext cx="2153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0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607308" y="3337560"/>
            <a:ext cx="21534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OSS/BSS, automation, network operations, managed services, analytics.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08776" y="2240280"/>
            <a:ext cx="259232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478024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28232" y="2990088"/>
            <a:ext cx="2153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0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BFSI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28232" y="3337560"/>
            <a:ext cx="21534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ECM, onboarding, workflow, compliance, and AI.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29700" y="2240280"/>
            <a:ext cx="259232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9156" y="2478024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49156" y="2990088"/>
            <a:ext cx="2153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0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Sector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249156" y="3337560"/>
            <a:ext cx="21534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eGovernance, citizen services, smart governance, digitization.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66928" y="4315968"/>
            <a:ext cx="259232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55371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86384" y="5065776"/>
            <a:ext cx="2153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0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Estate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786384" y="5413248"/>
            <a:ext cx="21534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buildings, ECM, ERP, tenant systems, operations.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3387852" y="4315968"/>
            <a:ext cx="259232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7308" y="4553712"/>
            <a:ext cx="402336" cy="40233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607308" y="5065776"/>
            <a:ext cx="2153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0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Oil &amp; Gas</a:t>
            </a:r>
            <a:endParaRPr lang="en-US" sz="1450" dirty="0"/>
          </a:p>
        </p:txBody>
      </p:sp>
      <p:sp>
        <p:nvSpPr>
          <p:cNvPr id="31" name="Text 23"/>
          <p:cNvSpPr/>
          <p:nvPr/>
        </p:nvSpPr>
        <p:spPr>
          <a:xfrm>
            <a:off x="3607308" y="5413248"/>
            <a:ext cx="21534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systems, compliance, operations intelligence, engineering.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6208776" y="4315968"/>
            <a:ext cx="259232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4553712"/>
            <a:ext cx="402336" cy="40233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428232" y="5065776"/>
            <a:ext cx="2153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0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&amp; Utilities</a:t>
            </a:r>
            <a:endParaRPr lang="en-US" sz="1450" dirty="0"/>
          </a:p>
        </p:txBody>
      </p:sp>
      <p:sp>
        <p:nvSpPr>
          <p:cNvPr id="35" name="Text 26"/>
          <p:cNvSpPr/>
          <p:nvPr/>
        </p:nvSpPr>
        <p:spPr>
          <a:xfrm>
            <a:off x="6428232" y="5413248"/>
            <a:ext cx="21534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E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monitoring, predictive maintenance, field systems, automation.</a:t>
            </a:r>
            <a:endParaRPr lang="en-US" sz="1100" dirty="0"/>
          </a:p>
        </p:txBody>
      </p:sp>
      <p:pic>
        <p:nvPicPr>
          <p:cNvPr id="36" name="Image 7" descr="/home/claude/logo_m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00800"/>
            <a:ext cx="692281" cy="1828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5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18872" cy="118872"/>
          </a:xfrm>
          <a:prstGeom prst="rect">
            <a:avLst/>
          </a:prstGeom>
          <a:solidFill>
            <a:srgbClr val="F26909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389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CORE TECHNOLOGY CAPABILITIES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Horizontal depth across every vertical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and enterprise-technology capabilities we bring to each industry.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2592324" cy="178308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9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2697480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3319272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Embedded, product, and platform engineering for critical systems.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7852" y="2240280"/>
            <a:ext cx="2592324" cy="178308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7308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9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07308" y="2697480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Applications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07308" y="3319272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ECM, and core enterprise platforms.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08776" y="2240280"/>
            <a:ext cx="2592324" cy="178308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9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8232" y="2697480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Systems Integration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28232" y="3319272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OT/IT, legacy, and enterprise systems.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29700" y="2240280"/>
            <a:ext cx="2592324" cy="178308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49156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9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49156" y="2697480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Analytics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49156" y="3319272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insight, analytics, and decision intelligence.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251960"/>
            <a:ext cx="2592324" cy="178308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9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" y="4709160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Automation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6384" y="5330952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and workflow automation at scale.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87852" y="4251960"/>
            <a:ext cx="2592324" cy="178308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07308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9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07308" y="4709160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 Services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07308" y="5330952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L1/L2/L3 operations and 24×7 support.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08776" y="4251960"/>
            <a:ext cx="2592324" cy="178308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9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28232" y="4709160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&amp; Monitoring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28232" y="5330952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network, and operations monitoring.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029700" y="4251960"/>
            <a:ext cx="2592324" cy="178308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49156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9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49156" y="4709160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Platforms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249156" y="5330952"/>
            <a:ext cx="2153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engineering, platforms, and governance.</a:t>
            </a:r>
            <a:endParaRPr lang="en-US" sz="1150" dirty="0"/>
          </a:p>
        </p:txBody>
      </p:sp>
      <p:pic>
        <p:nvPicPr>
          <p:cNvPr id="38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00800"/>
            <a:ext cx="692281" cy="18288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18872" cy="118872"/>
          </a:xfrm>
          <a:prstGeom prst="rect">
            <a:avLst/>
          </a:prstGeom>
          <a:solidFill>
            <a:srgbClr val="F26909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389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E5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WHY HILIKS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20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niche, engineering-led enterprise technology company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5021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5740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624328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0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Domain-Focused Expertise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3044952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Verticalized practices that speak each industry's language.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021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057400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624328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0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Engineering-Led Delivery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617720" y="3044952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engineering depth — not just IT services.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19872" y="1783080"/>
            <a:ext cx="35021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057400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94192" y="2624328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0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Technology Depth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8394192" y="3044952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Full-stack: apps, integration, AI, automation, data, and cloud.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66928" y="3886200"/>
            <a:ext cx="35021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160520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1248" y="4727448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0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Ecosystem Partnerships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41248" y="5148072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Best-of-breed partners extend our reach and depth.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343400" y="3886200"/>
            <a:ext cx="35021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160520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17720" y="4727448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0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GCC Expansion Readiness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4617720" y="5148072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5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tone and delivery for the UAE, KSA, and India.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119872" y="3886200"/>
            <a:ext cx="3502152" cy="1828800"/>
          </a:xfrm>
          <a:prstGeom prst="rect">
            <a:avLst/>
          </a:prstGeom>
          <a:solidFill>
            <a:srgbClr val="F26909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160520"/>
            <a:ext cx="420624" cy="42062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94192" y="4727448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3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Niche by Design</a:t>
            </a:r>
            <a:endParaRPr lang="en-US" sz="1550" dirty="0"/>
          </a:p>
        </p:txBody>
      </p:sp>
      <p:sp>
        <p:nvSpPr>
          <p:cNvPr id="28" name="Text 20"/>
          <p:cNvSpPr/>
          <p:nvPr/>
        </p:nvSpPr>
        <p:spPr>
          <a:xfrm>
            <a:off x="8394192" y="5148072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A1D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Engineering-led DNA, with a flagship Railways practice.</a:t>
            </a:r>
            <a:endParaRPr lang="en-US" sz="1200" dirty="0"/>
          </a:p>
        </p:txBody>
      </p:sp>
      <p:pic>
        <p:nvPicPr>
          <p:cNvPr id="29" name="Image 6" descr="/home/claude/logo_m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400800"/>
            <a:ext cx="692281" cy="1828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5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18872" cy="118872"/>
          </a:xfrm>
          <a:prstGeom prst="rect">
            <a:avLst/>
          </a:prstGeom>
          <a:solidFill>
            <a:srgbClr val="F26909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4846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— STRATEGIC ECOSYSTEM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Depth extended through partnership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collaboration with strategic ecosystem partners — including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269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Aptiva Technologies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Hiliks extends enterprise digital-transformation depth across analytics, integration, automation, ECM, and managed services, with GCC-grade enterprise rigor.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697480"/>
            <a:ext cx="693115" cy="310896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688336"/>
            <a:ext cx="6931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69771" y="2697480"/>
            <a:ext cx="844906" cy="310896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69771" y="2688336"/>
            <a:ext cx="8449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OpenText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24405" y="2697480"/>
            <a:ext cx="1376172" cy="310896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24405" y="2688336"/>
            <a:ext cx="13761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 Azure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10305" y="2697480"/>
            <a:ext cx="465430" cy="310896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0305" y="2688336"/>
            <a:ext cx="4654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5462" y="2697480"/>
            <a:ext cx="1148486" cy="310896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5462" y="2688336"/>
            <a:ext cx="11484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Cloud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43677" y="2697480"/>
            <a:ext cx="693115" cy="310896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43677" y="2688336"/>
            <a:ext cx="6931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UiPath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46520" y="2697480"/>
            <a:ext cx="465430" cy="310896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688336"/>
            <a:ext cx="4654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G42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21678" y="2697480"/>
            <a:ext cx="844906" cy="310896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1678" y="2688336"/>
            <a:ext cx="8449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Moro Hub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76311" y="2697480"/>
            <a:ext cx="1072591" cy="310896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6311" y="2688336"/>
            <a:ext cx="1072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 Micro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58630" y="2697480"/>
            <a:ext cx="920801" cy="310896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58630" y="2688336"/>
            <a:ext cx="9208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Forescout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189159" y="2697480"/>
            <a:ext cx="1072591" cy="310896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89159" y="2688336"/>
            <a:ext cx="1072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AppDynamics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4114800"/>
            <a:ext cx="2592324" cy="105156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4297680"/>
            <a:ext cx="2153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69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20+ yrs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786384" y="4773168"/>
            <a:ext cx="2153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Ecosystem experience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87852" y="4114800"/>
            <a:ext cx="2592324" cy="105156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7308" y="4297680"/>
            <a:ext cx="2153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69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3607308" y="4773168"/>
            <a:ext cx="2153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Countries served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08776" y="4114800"/>
            <a:ext cx="2592324" cy="105156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4297680"/>
            <a:ext cx="2153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69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GCC + India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6428232" y="4773168"/>
            <a:ext cx="2153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 footprint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029700" y="4114800"/>
            <a:ext cx="2592324" cy="105156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49156" y="4297680"/>
            <a:ext cx="2153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69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11+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9249156" y="4773168"/>
            <a:ext cx="2153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Technology partners</a:t>
            </a:r>
            <a:endParaRPr lang="en-US" sz="950" dirty="0"/>
          </a:p>
        </p:txBody>
      </p:sp>
      <p:pic>
        <p:nvPicPr>
          <p:cNvPr id="40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00800"/>
            <a:ext cx="692281" cy="18288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377440"/>
            <a:ext cx="8229600" cy="8229600"/>
          </a:xfrm>
          <a:prstGeom prst="ellipse">
            <a:avLst/>
          </a:prstGeom>
          <a:solidFill>
            <a:srgbClr val="C2440D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029200" cy="5029200"/>
          </a:xfrm>
          <a:prstGeom prst="ellipse">
            <a:avLst/>
          </a:prstGeom>
          <a:solidFill>
            <a:srgbClr val="F26909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978408"/>
            <a:ext cx="118872" cy="118872"/>
          </a:xfrm>
          <a:prstGeom prst="rect">
            <a:avLst/>
          </a:prstGeom>
          <a:solidFill>
            <a:srgbClr val="F26909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8961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ENGINEERING-LED · INDUSTRY-FOCUSED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32588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Engineering-led technology for your industry — with a particularly strong Railways practice.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66928" y="4114800"/>
            <a:ext cx="2592324" cy="105156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4279392"/>
            <a:ext cx="218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69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8096" y="4791456"/>
            <a:ext cx="2189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Industries served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7852" y="4114800"/>
            <a:ext cx="2592324" cy="105156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9020" y="4279392"/>
            <a:ext cx="218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69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89020" y="4791456"/>
            <a:ext cx="2189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capabilities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08776" y="4114800"/>
            <a:ext cx="2592324" cy="105156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4279392"/>
            <a:ext cx="218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69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Railways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9944" y="4791456"/>
            <a:ext cx="2189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Flagship practice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29700" y="4114800"/>
            <a:ext cx="2592324" cy="1051560"/>
          </a:xfrm>
          <a:prstGeom prst="rect">
            <a:avLst/>
          </a:prstGeom>
          <a:solidFill>
            <a:srgbClr val="261C15"/>
          </a:solidFill>
          <a:ln w="12700">
            <a:solidFill>
              <a:srgbClr val="3C2D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0868" y="4279392"/>
            <a:ext cx="218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69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GCC + India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30868" y="4791456"/>
            <a:ext cx="2189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 footprint</a:t>
            </a:r>
            <a:endParaRPr lang="en-US" sz="950" dirty="0"/>
          </a:p>
        </p:txBody>
      </p:sp>
      <p:pic>
        <p:nvPicPr>
          <p:cNvPr id="19" name="Image 0" descr="/home/claude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291072"/>
            <a:ext cx="1038422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159752" y="6291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+ Intelligence  ·  India + GCC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Hiliks Technologies — Industry-Focused Digital Engineering &amp; Enterprise Technology</dc:title>
  <dc:subject>PptxGenJS Presentation</dc:subject>
  <dc:creator>Hiliks Technologies</dc:creator>
  <cp:lastModifiedBy>Hiliks Technologies</cp:lastModifiedBy>
  <cp:revision>1</cp:revision>
  <dcterms:created xsi:type="dcterms:W3CDTF">2026-05-29T03:50:21Z</dcterms:created>
  <dcterms:modified xsi:type="dcterms:W3CDTF">2026-05-29T03:50:21Z</dcterms:modified>
</cp:coreProperties>
</file>